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0D1B2A"/>
                </a:solidFill>
                <a:latin typeface="Arial"/>
              </a:rPr>
              <a:t>Conversión por canal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conversión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DD-4DE4-8B98-9DF4C9BE9640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DD-4DE4-8B98-9DF4C9BE9640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DD-4DE4-8B98-9DF4C9BE9640}"/>
              </c:ext>
            </c:extLst>
          </c:dPt>
          <c:dPt>
            <c:idx val="3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7DD-4DE4-8B98-9DF4C9BE96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Push_app</c:v>
                </c:pt>
                <c:pt idx="2">
                  <c:v>Redes_soc.</c:v>
                </c:pt>
                <c:pt idx="3">
                  <c:v>SMS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41.5</c:v>
                </c:pt>
                <c:pt idx="1">
                  <c:v>38.700000000000003</c:v>
                </c:pt>
                <c:pt idx="2">
                  <c:v>32.299999999999997</c:v>
                </c:pt>
                <c:pt idx="3">
                  <c:v>24.7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DD-4DE4-8B98-9DF4C9BE96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0D1B2A"/>
                </a:solidFill>
                <a:latin typeface="Arial"/>
              </a:rPr>
              <a:t>Conversión por hora de envío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conversión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564-47DC-93DE-6CC30C552BE5}"/>
              </c:ext>
            </c:extLst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64-47DC-93DE-6CC30C552BE5}"/>
              </c:ext>
            </c:extLst>
          </c:dPt>
          <c:dPt>
            <c:idx val="2"/>
            <c:invertIfNegative val="0"/>
            <c:bubble3D val="0"/>
            <c:spPr>
              <a:solidFill>
                <a:srgbClr val="FCD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64-47DC-93DE-6CC30C552BE5}"/>
              </c:ext>
            </c:extLst>
          </c:dPt>
          <c:dPt>
            <c:idx val="3"/>
            <c:invertIfNegative val="0"/>
            <c:bubble3D val="0"/>
            <c:spPr>
              <a:solidFill>
                <a:srgbClr val="FDE6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64-47DC-93DE-6CC30C552B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Noche</c:v>
                </c:pt>
                <c:pt idx="1">
                  <c:v>Tarde</c:v>
                </c:pt>
                <c:pt idx="2">
                  <c:v>Mediodía</c:v>
                </c:pt>
                <c:pt idx="3">
                  <c:v>Mañana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40.200000000000003</c:v>
                </c:pt>
                <c:pt idx="1">
                  <c:v>37.5</c:v>
                </c:pt>
                <c:pt idx="2">
                  <c:v>34.1</c:v>
                </c:pt>
                <c:pt idx="3">
                  <c:v>28.9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64-47DC-93DE-6CC30C552B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cat_producto</c:v>
                </c:pt>
                <c:pt idx="1">
                  <c:v>genero</c:v>
                </c:pt>
                <c:pt idx="2">
                  <c:v>rango_ingreso</c:v>
                </c:pt>
                <c:pt idx="3">
                  <c:v>hora_envio</c:v>
                </c:pt>
                <c:pt idx="4">
                  <c:v>dia_envio</c:v>
                </c:pt>
                <c:pt idx="5">
                  <c:v>edad_cliente</c:v>
                </c:pt>
                <c:pt idx="6">
                  <c:v>canal_marketing</c:v>
                </c:pt>
                <c:pt idx="7">
                  <c:v>descuento_%</c:v>
                </c:pt>
                <c:pt idx="8">
                  <c:v>dias_inactivo</c:v>
                </c:pt>
                <c:pt idx="9">
                  <c:v>compras_previas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6.9</c:v>
                </c:pt>
                <c:pt idx="1">
                  <c:v>7.1</c:v>
                </c:pt>
                <c:pt idx="2">
                  <c:v>7.9</c:v>
                </c:pt>
                <c:pt idx="3">
                  <c:v>8.1999999999999993</c:v>
                </c:pt>
                <c:pt idx="4">
                  <c:v>8.8000000000000007</c:v>
                </c:pt>
                <c:pt idx="5">
                  <c:v>9.3000000000000007</c:v>
                </c:pt>
                <c:pt idx="6">
                  <c:v>11.2</c:v>
                </c:pt>
                <c:pt idx="7">
                  <c:v>12.9</c:v>
                </c:pt>
                <c:pt idx="8">
                  <c:v>25.9</c:v>
                </c:pt>
                <c:pt idx="9">
                  <c:v>26.6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0-46EC-8023-1B7507B374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87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280A-BCCC-6C3C-84C8-90693127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36D6E-212B-6EB9-972C-D9E8CD863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C06F4-E01C-C3F7-06BA-1E4B9779C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6C68B-308B-77ED-68E2-CA6A96DB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16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B3C5-B754-9752-C781-CF5A4E34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E2CEF-1AD4-2DBF-A084-A5B67364C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C9797-3F48-DE00-FEF3-821EABFE3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3921B-CBB1-96FA-ECBF-8A9083A66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34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56032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92608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CIENCIA DE DATOS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MercadoFresco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2847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Campaña de Marketing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872234"/>
            <a:ext cx="59436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8424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conversión con Random Forest para optimizar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millones COP mensuales en campañas digitales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95778"/>
            <a:ext cx="192024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9577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700 registros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2795778"/>
            <a:ext cx="192024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79577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11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795778"/>
            <a:ext cx="192024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79577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1696" y="2795778"/>
            <a:ext cx="192024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79577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AUC-ROC 0.726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0994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Caso 5  |  Grupo de Ciencia de Datos</a:t>
            </a:r>
          </a:p>
          <a:p>
            <a:r>
              <a:rPr lang="es-CO" dirty="0">
                <a:solidFill>
                  <a:srgbClr val="64748B"/>
                </a:solidFill>
              </a:rPr>
              <a:t>Eliana Villanueva Villada </a:t>
            </a:r>
          </a:p>
          <a:p>
            <a:r>
              <a:rPr lang="es-CO" dirty="0">
                <a:solidFill>
                  <a:srgbClr val="64748B"/>
                </a:solidFill>
              </a:rPr>
              <a:t>Francisco Javier Trejos Victoria </a:t>
            </a:r>
          </a:p>
          <a:p>
            <a:r>
              <a:rPr lang="es-CO" dirty="0">
                <a:solidFill>
                  <a:srgbClr val="64748B"/>
                </a:solidFill>
              </a:rPr>
              <a:t>César Augusto Tirado Tamayo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57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517904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negocio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956816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datos y objetivo del modelo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188720"/>
            <a:ext cx="2057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1887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96896" y="1517904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1956816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 y hallazgos clave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11887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188720"/>
            <a:ext cx="2057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1887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1517904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1956816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variables y preparación del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21424" y="11887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188720"/>
            <a:ext cx="2057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11887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1152" y="1517904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del modelo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1956816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Random Forest sobre Regresión Logística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80360"/>
            <a:ext cx="2743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32095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evaluación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" y="364845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80/20, métricas y curva ROC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880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880360"/>
            <a:ext cx="2743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172968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82696" y="32095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interpretación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82696" y="364845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y recomendaciones de negocio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25896" y="2880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2880360"/>
            <a:ext cx="2743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025896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35624" y="32095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35624" y="364845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próximos pasos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NEGOCIO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CONTEXTO EMPRESARIAL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colombiano de alimentos y productos del hogar.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06654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millones COP mensuales invertidos en campañas digitales.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5603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 actual: solo el 8% (ahora 33.6% en dataset).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8152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05409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sin segmentación: el mismo mensaje llega a todos.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7530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54787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desconoce qué variables impactan la decisión de compra.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114800" cy="1737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1430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OBJETIVO DEL MODELO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si un cliente realizará una compra (sí/no) tras recibir una campaña, para optimizar la segmentación y asignación del presupuesto.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99232"/>
            <a:ext cx="411480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9992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VARIABLE OBJETIVO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realizo_compra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Sí compró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(235 clientes – 33.6%)
</a:t>
            </a:r>
            <a:r>
              <a:rPr lang="en-US" sz="1100" b="1" dirty="0">
                <a:solidFill>
                  <a:srgbClr val="E5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compró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(465 clientes – 66.4%)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6002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Registros totales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39112" y="1115568"/>
            <a:ext cx="16002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2039112" y="1115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39112" y="1572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Variables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58184" y="1115568"/>
            <a:ext cx="16002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1115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58184" y="1572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Variables categóricas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77256" y="1115568"/>
            <a:ext cx="16002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77256" y="1115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77256" y="1572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Variables numéricas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96328" y="1115568"/>
            <a:ext cx="16002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1115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96328" y="1572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Valores nulos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11680"/>
          <a:ext cx="7589520" cy="318211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Rango/Valores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edad_cliente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Numérica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Edad del cliente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18 – 64 años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genero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Género del cliente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F, M, Otro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rango_ingreso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Nivel socioeconómico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Bajo, Medio, Alto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canal_marketing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Canal de la campaña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Email, SMS, Redes, Push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dia_envio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Día de la semana del envío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Lunes … Domingo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hora_envio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Franja horaria del envío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Mañana, Mediodía, Tarde, Noche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compras_previas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Numérica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Historial de compras anteriores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 – 29 compras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dias_inactivo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Numérica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Días sin actividad en la app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 – 179 días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descuento_porcentaje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Numérica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Descuento ofrecido en la campaña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 – 30%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categoria_producto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Categórica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Categoría del producto promocionado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Alimentos, Hogar, Moda…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realizo_compra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Binaria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VARIABLE OBJETIVO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0 = No, 1 = Sí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(EDA)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43000"/>
          <a:ext cx="4160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143000"/>
          <a:ext cx="4160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520440"/>
            <a:ext cx="28163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520440"/>
            <a:ext cx="73152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5"/>
          <p:cNvSpPr/>
          <p:nvPr/>
        </p:nvSpPr>
        <p:spPr>
          <a:xfrm>
            <a:off x="484632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★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" y="389534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Noche: 48.8% conversión – la combinación más efectiva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64408" y="3520440"/>
            <a:ext cx="28163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64408" y="352044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★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389534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21–30% logra 48.6% vs 16.2% sin descuento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8776" y="3520440"/>
            <a:ext cx="28163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08776" y="3520440"/>
            <a:ext cx="73152" cy="1280160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17" name="Text 13"/>
          <p:cNvSpPr/>
          <p:nvPr/>
        </p:nvSpPr>
        <p:spPr>
          <a:xfrm>
            <a:off x="6373368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5A2B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373368" y="389534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más compras previas convierten significativamente más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5552A-FE75-5427-D8E4-5611C8EE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B76666-8641-0087-246A-1F0BF6A38B6F}"/>
              </a:ext>
            </a:extLst>
          </p:cNvPr>
          <p:cNvSpPr/>
          <p:nvPr/>
        </p:nvSpPr>
        <p:spPr>
          <a:xfrm>
            <a:off x="0" y="0"/>
            <a:ext cx="9144000" cy="50940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2B3D9C-0E3F-9A0B-FC8D-22E98C0761C3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494F517-F22D-1464-1785-73BDCF6E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2" y="69958"/>
            <a:ext cx="8016415" cy="50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2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¿Qué es Label Encoding?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que convierte categorías de texto en números enteros para que el modelo pueda procesarlas matemáticamente. Ej: 'Email'→0, 'Push_app'→1, 'Redes_sociales'→2, 'SMS'→3.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1031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F→0 | M→1 | Otro→2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21031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21031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1031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rango_ingreso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4140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Alto→0 | Bajo→1 | Medio→2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1031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21031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canal_marketing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24140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Email→0 | Push→1 | Redes→2 | SMS→3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175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dia_envio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3284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Dom→0 … Vie→6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30175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30175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0175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hora_envio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3284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Mañana→0 | Mediodía→1 | Noche→2 | Tarde→3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08776" y="3017520"/>
            <a:ext cx="2816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3017520"/>
            <a:ext cx="2816352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30175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categoria_producto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332841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Alimentos→0 … Tecnología→4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85039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41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¿Por qué NO se aplica escalado numérico?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3891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toma decisiones por umbrales de partición, no por distancias. Normalizar las variables no afecta el resultado — a diferencia de Regresión Logística o SVM que sí lo requieren.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DEL MODELO: ¿POR QUÉ RANDOM FOREST?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Regresión Logística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9728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★  Random Forest  ← ELEGIDO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8503920" cy="576072"/>
          </a:xfrm>
          <a:prstGeom prst="rect">
            <a:avLst/>
          </a:prstGeom>
          <a:solidFill>
            <a:srgbClr val="0D1B2A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691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Manejo de variables categóricas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402336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94767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5A2B"/>
                </a:solidFill>
              </a:rPr>
              <a:t>✗  Requiere One-Hot Encoding (aumenta dimensiones)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947672"/>
            <a:ext cx="4023360" cy="292608"/>
          </a:xfrm>
          <a:prstGeom prst="rect">
            <a:avLst/>
          </a:prstGeom>
          <a:solidFill>
            <a:srgbClr val="CCFBF1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94767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 Label Encoding suficiente, nativo en árboles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8503920" cy="576072"/>
          </a:xfrm>
          <a:prstGeom prst="rect">
            <a:avLst/>
          </a:prstGeom>
          <a:solidFill>
            <a:srgbClr val="0D1B2A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23042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Interacciones no lineales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0233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256032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5A2B"/>
                </a:solidFill>
              </a:rPr>
              <a:t>✗  Asume relaciones lineales entre variables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560320"/>
            <a:ext cx="4023360" cy="292608"/>
          </a:xfrm>
          <a:prstGeom prst="rect">
            <a:avLst/>
          </a:prstGeom>
          <a:solidFill>
            <a:srgbClr val="CCFBF1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99432" y="256032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 Captura canal × hora × descuento automáticamente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16936"/>
            <a:ext cx="8503920" cy="576072"/>
          </a:xfrm>
          <a:prstGeom prst="rect">
            <a:avLst/>
          </a:prstGeom>
          <a:solidFill>
            <a:srgbClr val="0D1B2A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91693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Desbalance de clases (66%/34%)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317296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5A2B"/>
                </a:solidFill>
              </a:rPr>
              <a:t>✗  Tiende a clasificar todo como mayoría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26280" y="3172968"/>
            <a:ext cx="4023360" cy="292608"/>
          </a:xfrm>
          <a:prstGeom prst="rect">
            <a:avLst/>
          </a:prstGeom>
          <a:solidFill>
            <a:srgbClr val="CCFBF1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17296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 class_weight='balanced' lo corrige directamente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29584"/>
            <a:ext cx="8503920" cy="576072"/>
          </a:xfrm>
          <a:prstGeom prst="rect">
            <a:avLst/>
          </a:prstGeom>
          <a:solidFill>
            <a:srgbClr val="0D1B2A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352958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Interpretabilidad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85616"/>
            <a:ext cx="40233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378561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5A2B"/>
                </a:solidFill>
              </a:rPr>
              <a:t>✗  Coeficientes con odds ratios – muy explicable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3785616"/>
            <a:ext cx="4023360" cy="292608"/>
          </a:xfrm>
          <a:prstGeom prst="rect">
            <a:avLst/>
          </a:prstGeom>
          <a:solidFill>
            <a:srgbClr val="CCFBF1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99432" y="378561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 Feature importance reemplaza la explicabilidad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42232"/>
            <a:ext cx="8503920" cy="576072"/>
          </a:xfrm>
          <a:prstGeom prst="rect">
            <a:avLst/>
          </a:prstGeom>
          <a:solidFill>
            <a:srgbClr val="0D1B2A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4142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Escalado requerido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98264"/>
            <a:ext cx="402336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439826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5A2B"/>
                </a:solidFill>
              </a:rPr>
              <a:t>✗  Sí – normalización obligatoria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4398264"/>
            <a:ext cx="4023360" cy="292608"/>
          </a:xfrm>
          <a:prstGeom prst="rect">
            <a:avLst/>
          </a:prstGeom>
          <a:solidFill>
            <a:srgbClr val="CCFBF1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99432" y="439826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 No – basado en particiones, no en distancias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DEL MODELO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7123176" y="1143000"/>
            <a:ext cx="1700784" cy="502920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– 560 registros (80%)  →  Entrenamiento y validación cruzada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20%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Split estratificado: mantiene proporción 66.4% / 33.6% en ambos conjuntos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754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57400"/>
            <a:ext cx="475488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574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HIPERPARÁMETROS DEL MODELO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04288" y="24871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árboles de decisión en el bosque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8437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04288" y="284378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28437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máxima de cada árbol (evita overfitting)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04288" y="32004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089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muestras para dividir un nodo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557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04288" y="355701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3557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muestras en una hoja terminal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04288" y="391363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'balanced'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3913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el desbalance 66%/34% automáticamente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04288" y="427024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5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0896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aleatoria para resultados reproducibles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57800" y="2057400"/>
            <a:ext cx="3566160" cy="2651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57800" y="20574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VALIDACIÓN CRUZADA 5-FOLD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24688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¿Qué es?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los datos de entrenamiento en 5 partes. Entrena 5 veces usando 4 partes y valida con la restante. Garantiza que el modelo generaliza bien.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AUC-ROC por fold: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3841394"/>
            <a:ext cx="548640" cy="5934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4462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361279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</a:rPr>
              <a:t>0.818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62472" y="4153205"/>
            <a:ext cx="548640" cy="28163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4462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62472" y="3924605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</a:rPr>
              <a:t>0.756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29984" y="3881628"/>
            <a:ext cx="548640" cy="5532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729984" y="4462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29984" y="36530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</a:rPr>
              <a:t>0.810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97496" y="4193438"/>
            <a:ext cx="548640" cy="24140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7397496" y="4462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97496" y="396483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</a:rPr>
              <a:t>0.748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065008" y="3680460"/>
            <a:ext cx="548640" cy="7543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8065008" y="4462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65008" y="34518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</a:rPr>
              <a:t>0.850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9496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Media: 0.796 ± 0.039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EVALUACIÓN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AUC-ROC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Discriminación global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96312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96312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Clase positiva (compradores)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72584" y="114300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72584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2584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Total en test set (140 reg.)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48856" y="114300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CV AUC-ROC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8856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Validación cruzada media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¿Qué es AUC-ROC?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27066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capacidad del modelo de distinguir entre compradores y no compradores. Va de 0.5 (azar) a 1.0 (perfecto). Un AUC de 0.726 indica buena discriminación.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¿Por qué no usar solo Accuracy?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7066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desbalance de clases, un modelo que predice siempre 'No compró' obtiene 66% de accuracy sin aprender nada. F1-Score y AUC son más honestos.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47872"/>
          <a:ext cx="8503920" cy="13898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Soporte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compró (0)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Sí compró (1)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0.59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0.55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0.57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Accuracy global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(FEATURE IMPORTANCE)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4937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Feature Importance? Indica cuánto contribuye cada variable a las predicciones del modelo. A mayor valor, más influye en decidir si un cliente comprará o no.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737360"/>
          <a:ext cx="512064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737360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23560" y="1737360"/>
            <a:ext cx="54864" cy="9509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7"/>
          <p:cNvSpPr/>
          <p:nvPr/>
        </p:nvSpPr>
        <p:spPr>
          <a:xfrm>
            <a:off x="5742432" y="18288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742432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Historial de compras (26.6%)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42432" y="2103120"/>
            <a:ext cx="2990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que ya compraron antes tienen mucha mayor probabilidad de volver. Prioritizar reactivación de clientes recurrentes.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761488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23560" y="2761488"/>
            <a:ext cx="54864" cy="9509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5742432" y="28529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742432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2816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Días inactivo (25.9%)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42432" y="3127248"/>
            <a:ext cx="2990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muy inactivos raramente convierten. Segmentar con distinta estrategia según días sin actividad.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23560" y="3785616"/>
            <a:ext cx="3200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23560" y="3785616"/>
            <a:ext cx="54864" cy="950976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22" name="Shape 19"/>
          <p:cNvSpPr/>
          <p:nvPr/>
        </p:nvSpPr>
        <p:spPr>
          <a:xfrm>
            <a:off x="5742432" y="3877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55A2B"/>
          </a:solidFill>
          <a:ln/>
        </p:spPr>
      </p:sp>
      <p:sp>
        <p:nvSpPr>
          <p:cNvPr id="23" name="Text 20"/>
          <p:cNvSpPr/>
          <p:nvPr/>
        </p:nvSpPr>
        <p:spPr>
          <a:xfrm>
            <a:off x="5742432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Descuento ofrecido (12.9%)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42432" y="4151376"/>
            <a:ext cx="2990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descuento importa, pero no es el único factor. Descuentos &gt;20% casi duplican la conversión vs sin descuento.</a:t>
            </a:r>
            <a:endParaRPr lang="en-US" sz="9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57312376-8B5F-45EC-9C27-6B421AFDBD86}"/>
              </a:ext>
            </a:extLst>
          </p:cNvPr>
          <p:cNvSpPr/>
          <p:nvPr/>
        </p:nvSpPr>
        <p:spPr>
          <a:xfrm>
            <a:off x="2492939" y="4736592"/>
            <a:ext cx="13008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ES_tradnl" sz="10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Relativa</a:t>
            </a:r>
            <a:endParaRPr lang="es-ES_tradnl" sz="10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D15F0-9421-F203-56FF-5E2D5B16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F0D3E1-9DFA-DFA3-DB87-7C7AD6E7EEEE}"/>
              </a:ext>
            </a:extLst>
          </p:cNvPr>
          <p:cNvSpPr/>
          <p:nvPr/>
        </p:nvSpPr>
        <p:spPr>
          <a:xfrm>
            <a:off x="0" y="-1"/>
            <a:ext cx="9144000" cy="76524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435737-31B2-DEE4-B287-329C50F53DD4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02F64E83-2392-10A3-9938-4836B7958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115"/>
          <a:stretch>
            <a:fillRect/>
          </a:stretch>
        </p:blipFill>
        <p:spPr>
          <a:xfrm>
            <a:off x="880353" y="1094462"/>
            <a:ext cx="7383294" cy="3452051"/>
          </a:xfrm>
          <a:prstGeom prst="rect">
            <a:avLst/>
          </a:prstGeom>
        </p:spPr>
      </p:pic>
      <p:sp>
        <p:nvSpPr>
          <p:cNvPr id="28" name="Text 2">
            <a:extLst>
              <a:ext uri="{FF2B5EF4-FFF2-40B4-BE49-F238E27FC236}">
                <a16:creationId xmlns:a16="http://schemas.microsoft.com/office/drawing/2014/main" id="{BD49EDD4-7B1C-613D-802D-A78BB1B737DE}"/>
              </a:ext>
            </a:extLst>
          </p:cNvPr>
          <p:cNvSpPr/>
          <p:nvPr/>
        </p:nvSpPr>
        <p:spPr>
          <a:xfrm>
            <a:off x="398834" y="71336"/>
            <a:ext cx="5502613" cy="693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2400" dirty="0">
                <a:solidFill>
                  <a:schemeClr val="bg1"/>
                </a:solidFill>
              </a:rPr>
              <a:t>GRÁFICAS DE EVALUACIÓN </a:t>
            </a:r>
          </a:p>
        </p:txBody>
      </p:sp>
    </p:spTree>
    <p:extLst>
      <p:ext uri="{BB962C8B-B14F-4D97-AF65-F5344CB8AC3E}">
        <p14:creationId xmlns:p14="http://schemas.microsoft.com/office/powerpoint/2010/main" val="396556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NEGOCIO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AUC 0.726 el modelo puede reducir campañas mal dirigidas hasta ~40%, optimizando los $80M COP mensuales de inversión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8503920" cy="95097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Top combinaciones canal × hora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Hora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Conversión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Campañas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Noche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48.8%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Tarde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41.0%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39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Push_app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Noche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40.8%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72491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724912"/>
            <a:ext cx="41605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2724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Segmentación por historial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9768" y="307238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recientes (1–30 días), semi-inactivos (31–90) e inactivos (&gt;90). Campaña diferente para cada segmento.</a:t>
            </a:r>
            <a:endParaRPr lang="en-US" sz="950" dirty="0"/>
          </a:p>
        </p:txBody>
      </p:sp>
      <p:sp>
        <p:nvSpPr>
          <p:cNvPr id="7" name="Shape 9"/>
          <p:cNvSpPr/>
          <p:nvPr/>
        </p:nvSpPr>
        <p:spPr>
          <a:xfrm>
            <a:off x="4663440" y="272491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724912"/>
            <a:ext cx="41605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773168" y="2724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Ventana dorada de envío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73168" y="307238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Email + Noche (48.8% conversión). Evitar canales con menor retorno en horarios de baja actividad.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389534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895344"/>
            <a:ext cx="4160520" cy="292608"/>
          </a:xfrm>
          <a:prstGeom prst="rect">
            <a:avLst/>
          </a:prstGeom>
          <a:solidFill>
            <a:srgbClr val="E55A2B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" y="3895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Descuentos inteligentes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9768" y="424281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&gt;20% solo a clientes con baja probabilidad. Recurrentes convierten sin descuento alto.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389534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895344"/>
            <a:ext cx="4160520" cy="2926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3895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Umbral de decisión ajustable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73168" y="424281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bajo → bajar umbral (más recall). Costo alto → subir umbral (más precisión, menos desperdicio).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4206240"/>
            <a:ext cx="8503920" cy="27432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del modelo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447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" y="14264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El historial es el mejor predictor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compras_previas y dias_inactivo explican más del 52% de la importancia total del modelo. Conocer al cliente es más poderoso que cualquier campaña.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4160520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4447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14264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El canal y la hora importan combinados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92224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Noche entrega 48.8% de conversión. Las interacciones entre variables solo las captura Random Forest, no la Regresión Logística.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4160520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E55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16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55A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" y="27980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A2B"/>
                </a:solidFill>
              </a:rPr>
              <a:t>El descuento no lo es todo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163824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altos ayudan, pero aumentar el descuento sin segmentación desperdicia margen en clientes que habrían comprado igual.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4160520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816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75504" y="27980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El modelo es operacionalmente viable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163824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0.726 con validación cruzada estable (0.796 ± 0.039) indica que el modelo generaliza bien y puede implementarse en producción.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389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Caso 5 – E-commerce MercadoFresco  |  Ciencia de Datos  |  Random Forest Classifier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1472</Words>
  <Application>Microsoft Office PowerPoint</Application>
  <PresentationFormat>Presentación en pantalla (16:9)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MercadoFresco – Efectividad de Campaña de Marketing</dc:title>
  <dc:subject>PptxGenJS Presentation</dc:subject>
  <dc:creator>PptxGenJS</dc:creator>
  <cp:lastModifiedBy>Cesar Augusto Tirado</cp:lastModifiedBy>
  <cp:revision>3</cp:revision>
  <dcterms:created xsi:type="dcterms:W3CDTF">2026-03-19T22:23:10Z</dcterms:created>
  <dcterms:modified xsi:type="dcterms:W3CDTF">2026-03-19T23:48:54Z</dcterms:modified>
</cp:coreProperties>
</file>